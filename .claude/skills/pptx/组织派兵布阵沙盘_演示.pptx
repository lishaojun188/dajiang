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JI_MASTER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solidFill>
            <a:srgbClr val="E623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25400">
            <a:solidFill>
              <a:srgbClr val="E623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37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DJI INTERNAL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E6230F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组织派兵布阵沙盘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Deployment Sandbox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可视化人才调配 · 实时能力模拟 · 数据驱动决策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 | Product Positioning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11680" cy="2011680"/>
          </a:xfrm>
          <a:prstGeom prst="ellipse">
            <a:avLst/>
          </a:prstGeom>
          <a:solidFill>
            <a:srgbClr val="E6230F">
              <a:alpha val="80000"/>
            </a:srgbClr>
          </a:solidFill>
          <a:ln w="38100">
            <a:solidFill>
              <a:srgbClr val="E623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2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0" y="16459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一个可视化的组织人才调配沙盘系统，帮助管理者通过直观的组织视角进行人才布局决策，实时模拟和评估组织能力变化。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743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organizational talent deployment sandbox system that helps managers make talent layout decisions through an intuitive organizational perspective.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3657600"/>
            <a:ext cx="1828800" cy="914400"/>
          </a:xfrm>
          <a:prstGeom prst="rect">
            <a:avLst/>
          </a:prstGeom>
          <a:solidFill>
            <a:srgbClr val="2D2D2D"/>
          </a:solidFill>
          <a:ln w="12700">
            <a:solidFill>
              <a:srgbClr val="E623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可视化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4297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Visualization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37760" y="3657600"/>
            <a:ext cx="1828800" cy="914400"/>
          </a:xfrm>
          <a:prstGeom prst="rect">
            <a:avLst/>
          </a:prstGeom>
          <a:solidFill>
            <a:srgbClr val="2D2D2D"/>
          </a:solidFill>
          <a:ln w="12700">
            <a:solidFill>
              <a:srgbClr val="E623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实时性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4297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Real-time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49440" y="3657600"/>
            <a:ext cx="1828800" cy="914400"/>
          </a:xfrm>
          <a:prstGeom prst="rect">
            <a:avLst/>
          </a:prstGeom>
          <a:solidFill>
            <a:srgbClr val="2D2D2D"/>
          </a:solidFill>
          <a:ln w="12700">
            <a:solidFill>
              <a:srgbClr val="E623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4944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数据驱动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4297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Data-driven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核心功能模块 | Core Functions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1737360"/>
          </a:xfrm>
          <a:prstGeom prst="rect">
            <a:avLst/>
          </a:prstGeom>
          <a:solidFill>
            <a:srgbClr val="2D2D2D"/>
          </a:solidFill>
          <a:ln w="25400">
            <a:solidFill>
              <a:srgbClr val="E623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2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组织结构视图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Structure 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多维度组织架构可视化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743200" cy="1737360"/>
          </a:xfrm>
          <a:prstGeom prst="rect">
            <a:avLst/>
          </a:prstGeom>
          <a:solidFill>
            <a:srgbClr val="2D2D2D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能力横向对比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Comparison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雷达图/柱状图对比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743200" cy="1737360"/>
          </a:xfrm>
          <a:prstGeom prst="rect">
            <a:avLst/>
          </a:prstGeom>
          <a:solidFill>
            <a:srgbClr val="2D2D2D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组织能力穿透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Penetration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组织→团队→个人下钻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2743200" cy="1737360"/>
          </a:xfrm>
          <a:prstGeom prst="rect">
            <a:avLst/>
          </a:prstGeom>
          <a:solidFill>
            <a:srgbClr val="2D2D2D"/>
          </a:solidFill>
          <a:ln w="25400">
            <a:solidFill>
              <a:srgbClr val="00C8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人才档案联动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Profile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一键查看人才画像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743200" cy="1737360"/>
          </a:xfrm>
          <a:prstGeom prst="rect">
            <a:avLst/>
          </a:prstGeom>
          <a:solidFill>
            <a:srgbClr val="2D2D2D"/>
          </a:solidFill>
          <a:ln w="25400">
            <a:solidFill>
              <a:srgbClr val="FFBB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实时调兵模拟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3886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Simulation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4160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拖拽调岗实时计算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23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组织结构视图 | Organization Structure 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2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功能特性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组织架构图形式展示层级关系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支持多维度视角（职能/项目/地域）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组织节点可折叠/展开，支持钻取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颜色编码显示能力状态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188720"/>
            <a:ext cx="3657600" cy="640080"/>
          </a:xfrm>
          <a:prstGeom prst="rect">
            <a:avLst/>
          </a:prstGeom>
          <a:solidFill>
            <a:srgbClr val="E623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0" cy="36576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2194560"/>
            <a:ext cx="2743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2194560"/>
            <a:ext cx="0" cy="2743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468880"/>
            <a:ext cx="640080" cy="4572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研发部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72200" y="2194560"/>
            <a:ext cx="0" cy="2743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468880"/>
            <a:ext cx="640080" cy="457200"/>
          </a:xfrm>
          <a:prstGeom prst="rect">
            <a:avLst/>
          </a:prstGeom>
          <a:solidFill>
            <a:srgbClr val="00C851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产品部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95160" y="2194560"/>
            <a:ext cx="0" cy="2743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468880"/>
            <a:ext cx="640080" cy="457200"/>
          </a:xfrm>
          <a:prstGeom prst="rect">
            <a:avLst/>
          </a:prstGeom>
          <a:solidFill>
            <a:srgbClr val="FFBB33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运营部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818120" y="2194560"/>
            <a:ext cx="0" cy="2743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2468880"/>
            <a:ext cx="64008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市场部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颜色编码说明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3611880"/>
            <a:ext cx="228600" cy="228600"/>
          </a:xfrm>
          <a:prstGeom prst="rect">
            <a:avLst/>
          </a:prstGeom>
          <a:solidFill>
            <a:srgbClr val="00C851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能力富余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611880"/>
            <a:ext cx="228600" cy="228600"/>
          </a:xfrm>
          <a:prstGeom prst="rect">
            <a:avLst/>
          </a:prstGeom>
          <a:solidFill>
            <a:srgbClr val="FFBB33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能力平衡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23760" y="3611880"/>
            <a:ext cx="228600" cy="228600"/>
          </a:xfrm>
          <a:prstGeom prst="rect">
            <a:avLst/>
          </a:prstGeom>
          <a:solidFill>
            <a:srgbClr val="E6230F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能力缺口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能力横向对比 | Cross-Org Capability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对比维度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技术能力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</a:rPr>
              <a:t>Technical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专业技术深度 · 技术广度 · 新技术掌握度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09728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业务能力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</a:rPr>
              <a:t>Business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业务理解深度 · 客户洞察能力 · 商业敏感度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09728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管理能力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02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</a:rPr>
              <a:t>Management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团队管理能力 · 项目管理能力 · 跨部门协作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109728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创新能力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3251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</a:rPr>
              <a:t>Innovation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创新思维 · 问题解决能力 · 变革驱动力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雷达图对比示例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1554480"/>
            <a:ext cx="3200400" cy="3200400"/>
          </a:xfrm>
          <a:prstGeom prst="pentagon">
            <a:avLst/>
          </a:prstGeom>
          <a:solidFill>
            <a:srgbClr val="4A4A4A">
              <a:alpha val="20000"/>
            </a:srgbClr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2011680"/>
            <a:ext cx="2286000" cy="2286000"/>
          </a:xfrm>
          <a:prstGeom prst="pentagon">
            <a:avLst/>
          </a:prstGeom>
          <a:solidFill>
            <a:srgbClr val="E6230F">
              <a:alpha val="40000"/>
            </a:srgbClr>
          </a:solidFill>
          <a:ln w="25400">
            <a:solidFill>
              <a:srgbClr val="E623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468880"/>
            <a:ext cx="1371600" cy="1371600"/>
          </a:xfrm>
          <a:prstGeom prst="pentagon">
            <a:avLst/>
          </a:prstGeom>
          <a:solidFill>
            <a:srgbClr val="00A8E8">
              <a:alpha val="40000"/>
            </a:srgbClr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4297680"/>
            <a:ext cx="228600" cy="182880"/>
          </a:xfrm>
          <a:prstGeom prst="rect">
            <a:avLst/>
          </a:prstGeom>
          <a:solidFill>
            <a:srgbClr val="E6230F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4251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研发部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4297680"/>
            <a:ext cx="228600" cy="1828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251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产品部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组织能力穿透 | Org Capability Penetration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685800"/>
          </a:xfrm>
          <a:prstGeom prst="rect">
            <a:avLst/>
          </a:prstGeom>
          <a:solidFill>
            <a:srgbClr val="E623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98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组织层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Organization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5400000">
            <a:off x="4297680" y="1920240"/>
            <a:ext cx="548640" cy="36576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2103120"/>
            <a:ext cx="594360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2128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团队/部门层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Team/Department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4297680" y="2834640"/>
            <a:ext cx="548640" cy="36576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3017520"/>
            <a:ext cx="4572000" cy="685800"/>
          </a:xfrm>
          <a:prstGeom prst="rect">
            <a:avLst/>
          </a:prstGeom>
          <a:solidFill>
            <a:srgbClr val="FFBB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127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小组层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429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Group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297680" y="3749040"/>
            <a:ext cx="548640" cy="36576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971800" y="3931920"/>
            <a:ext cx="3200400" cy="685800"/>
          </a:xfrm>
          <a:prstGeom prst="rect">
            <a:avLst/>
          </a:prstGeom>
          <a:solidFill>
            <a:srgbClr val="00C8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4041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个人层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71800" y="4343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Individual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可视化形式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508760"/>
            <a:ext cx="137160" cy="4114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15087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热力图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17099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人才密度分布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057400"/>
            <a:ext cx="137160" cy="4114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0574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能力矩阵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22585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九宫格分布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606040"/>
            <a:ext cx="137160" cy="4114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606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人才地图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28072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关键人才标注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人才档案联动 | Talent Profile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00C8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371600"/>
            <a:ext cx="731520" cy="73152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张三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51"/>
                </a:solidFill>
              </a:rPr>
              <a:t>高级产品经理 | P8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51"/>
                </a:solidFill>
              </a:rPr>
              <a:t>基础信息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工号: 10086 · 司龄: 5年 · 部门: 产品中心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51"/>
                </a:solidFill>
              </a:rPr>
              <a:t>能力画像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产品规划: 90 · 数据分析: 85 · 用户研究: 88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51"/>
                </a:solidFill>
              </a:rPr>
              <a:t>绩效发展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最近绩效: A · 潜力评级: 高 · 继任准备度: 就绪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档案信息结构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1600200"/>
            <a:ext cx="365760" cy="365760"/>
          </a:xfrm>
          <a:prstGeom prst="rect">
            <a:avLst/>
          </a:prstGeom>
          <a:solidFill>
            <a:srgbClr val="2D2D2D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基础信息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姓名、工号、职级、司龄、所属组织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2331720"/>
            <a:ext cx="365760" cy="365760"/>
          </a:xfrm>
          <a:prstGeom prst="rect">
            <a:avLst/>
          </a:prstGeom>
          <a:solidFill>
            <a:srgbClr val="2D2D2D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377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能力画像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能力雷达图、专业技能标签、成长曲线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3063240"/>
            <a:ext cx="365760" cy="365760"/>
          </a:xfrm>
          <a:prstGeom prst="rect">
            <a:avLst/>
          </a:prstGeom>
          <a:solidFill>
            <a:srgbClr val="2D2D2D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3108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绩效发展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历史绩效、360评估、潜力评级、继任准备度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0" y="3794760"/>
            <a:ext cx="365760" cy="365760"/>
          </a:xfrm>
          <a:prstGeom prst="rect">
            <a:avLst/>
          </a:prstGeom>
          <a:solidFill>
            <a:srgbClr val="2D2D2D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3840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职业信息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发展路径、培训记录、项目经历、流动意愿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实时调兵模拟 | Real-time Talent Adjustment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沙盘操作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23444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FB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276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拖拽调岗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</a:rPr>
              <a:t>Drag &amp; Drop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0" y="1554480"/>
            <a:ext cx="123444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FBB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6276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190195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批量选择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121408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</a:rPr>
              <a:t>Batch Select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123444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FB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6276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↶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190195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撤销/重做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121408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</a:rPr>
              <a:t>Undo/Redo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123444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FBB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420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281635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方案保存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35808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</a:rPr>
              <a:t>Save Plan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828800" y="2468880"/>
            <a:ext cx="123444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FBB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5420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28800" y="281635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方案对比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035808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</a:rPr>
              <a:t>Compare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实时计算指标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1554480"/>
            <a:ext cx="36576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1664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组织能力总分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16276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851"/>
                </a:solidFill>
              </a:rPr>
              <a:t>+12%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0" y="2103120"/>
            <a:ext cx="36576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2128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技术能力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21762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851"/>
                </a:solidFill>
              </a:rPr>
              <a:t>+8%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2651760"/>
            <a:ext cx="36576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27614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业务能力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27249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851"/>
                </a:solidFill>
              </a:rPr>
              <a:t>+15%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3200400"/>
            <a:ext cx="36576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3310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管理能力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0" y="32735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230F"/>
                </a:solidFill>
              </a:rPr>
              <a:t>-3%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858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人才结构评分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38221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E8"/>
                </a:solidFill>
              </a:rPr>
              <a:t>92/100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0" y="4297680"/>
            <a:ext cx="3657600" cy="457200"/>
          </a:xfrm>
          <a:prstGeom prst="rect">
            <a:avLst/>
          </a:prstGeom>
          <a:solidFill>
            <a:srgbClr val="E6230F">
              <a:alpha val="70000"/>
            </a:srgbClr>
          </a:solidFill>
          <a:ln w="25400">
            <a:solidFill>
              <a:srgbClr val="E6230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389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⚠️ 风险预警: 关键岗位空缺 - 产品经理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用户场景 | User Scenarios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474720"/>
          </a:xfrm>
          <a:prstGeom prst="rect">
            <a:avLst/>
          </a:prstGeom>
          <a:solidFill>
            <a:srgbClr val="2D2D2D"/>
          </a:solidFill>
          <a:ln w="12700">
            <a:solidFill>
              <a:srgbClr val="E623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325880"/>
            <a:ext cx="502920" cy="502920"/>
          </a:xfrm>
          <a:prstGeom prst="ellipse">
            <a:avLst/>
          </a:prstGeom>
          <a:solidFill>
            <a:srgbClr val="E6230F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417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组织合并前的能力盘点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Pre-Merger Assessment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两个部门即将合并，评估合并后的人员配置和能力互补性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1. 选中待合并组织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2. 横向对比能力差异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3. 穿透查看人员构成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4. 模拟调整方案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2743200" cy="3474720"/>
          </a:xfrm>
          <a:prstGeom prst="rect">
            <a:avLst/>
          </a:prstGeom>
          <a:solidFill>
            <a:srgbClr val="2D2D2D"/>
          </a:solidFill>
          <a:ln w="12700">
            <a:solidFill>
              <a:srgbClr val="E623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325880"/>
            <a:ext cx="502920" cy="502920"/>
          </a:xfrm>
          <a:prstGeom prst="ellipse">
            <a:avLst/>
          </a:prstGeom>
          <a:solidFill>
            <a:srgbClr val="E6230F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417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新项目组建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New Project Team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8328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为新项目快速组建团队，从各组织抽调合适人才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1. 创建虚拟项目组织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2. 按能力标签搜索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3. 查看候选人位置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4. 模拟抽调影响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2743200" cy="3474720"/>
          </a:xfrm>
          <a:prstGeom prst="rect">
            <a:avLst/>
          </a:prstGeom>
          <a:solidFill>
            <a:srgbClr val="2D2D2D"/>
          </a:solidFill>
          <a:ln w="12700">
            <a:solidFill>
              <a:srgbClr val="E623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325880"/>
            <a:ext cx="502920" cy="502920"/>
          </a:xfrm>
          <a:prstGeom prst="ellipse">
            <a:avLst/>
          </a:prstGeom>
          <a:solidFill>
            <a:srgbClr val="E6230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417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关键岗位继任规划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</a:rPr>
              <a:t>Succession Planning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0936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识别关键岗位的潜在继任者，评估继任准备度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1. 标记关键岗位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936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2. 查看能力要求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0936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3. 查找匹配人才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4. 制定发展计划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 |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2D2D2D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645920" cy="10515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前端展示层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37160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554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组织架构图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54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能力对比图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54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人才档案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54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沙盘画布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06640" y="137160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554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实时指标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2D2D2D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1645920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业务逻辑层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Business Logic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260604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788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组织关系服务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66160" y="260604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788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能力计算服务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260604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889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模拟推演引擎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2D2D2D"/>
          </a:solidFill>
          <a:ln w="25400">
            <a:solidFill>
              <a:srgbClr val="00C8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57600"/>
            <a:ext cx="1645920" cy="1051560"/>
          </a:xfrm>
          <a:prstGeom prst="rect">
            <a:avLst/>
          </a:prstGeom>
          <a:solidFill>
            <a:srgbClr val="00C85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数据访问层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Data Access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384048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40233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组织数据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66160" y="384048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40233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人员数据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3840480"/>
            <a:ext cx="11430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C8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0233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能力数据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 rot="5400000">
            <a:off x="4297680" y="2286000"/>
            <a:ext cx="548640" cy="27432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 rot="5400000">
            <a:off x="4297680" y="3520440"/>
            <a:ext cx="548640" cy="274320"/>
          </a:xfrm>
          <a:prstGeom prst="rightArrow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数据需求 | Data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E623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640080"/>
          </a:xfrm>
          <a:prstGeom prst="rect">
            <a:avLst/>
          </a:prstGeom>
          <a:solidFill>
            <a:srgbClr val="E6230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组织数据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Organization 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▸ 组织架构树（含历史版本）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▸ 组织属性（类型、级别、状态）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▸ 组织间关系（实线/虚线汇报）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74320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188720"/>
            <a:ext cx="2743200" cy="6400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人员数据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People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▸ 人员基本信息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▸ 人员-组织映射关系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▸ 汇报关系历史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74320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00C8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188720"/>
            <a:ext cx="2743200" cy="640080"/>
          </a:xfrm>
          <a:prstGeom prst="rect">
            <a:avLst/>
          </a:prstGeom>
          <a:solidFill>
            <a:srgbClr val="00C85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能力数据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</a:rPr>
              <a:t>Capability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508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▸ 岗位能力模型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▸ 人员能力评估结果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▸ 能力评估标准与权重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23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实施路线图 |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2618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基础架构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09728" cy="3657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组织架构图可视化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09728" cy="3657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基础数据接入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109728" cy="3657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用户权限体系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188720"/>
            <a:ext cx="201168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1188720"/>
            <a:ext cx="201168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12618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12618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Q2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核心功能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51760" y="2148840"/>
            <a:ext cx="10972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能力横向对比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2651760"/>
            <a:ext cx="10972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能力穿透下钻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3154680"/>
            <a:ext cx="10972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人才档案联动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201168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00C8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188720"/>
            <a:ext cx="2011680" cy="457200"/>
          </a:xfrm>
          <a:prstGeom prst="rect">
            <a:avLst/>
          </a:prstGeom>
          <a:solidFill>
            <a:srgbClr val="00C851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2618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2618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Q3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高级功能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2148840"/>
            <a:ext cx="109728" cy="365760"/>
          </a:xfrm>
          <a:prstGeom prst="rect">
            <a:avLst/>
          </a:prstGeom>
          <a:solidFill>
            <a:srgbClr val="00C85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实时调兵模拟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651760"/>
            <a:ext cx="109728" cy="365760"/>
          </a:xfrm>
          <a:prstGeom prst="rect">
            <a:avLst/>
          </a:prstGeom>
          <a:solidFill>
            <a:srgbClr val="00C851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沙盘拖拽交互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154680"/>
            <a:ext cx="109728" cy="365760"/>
          </a:xfrm>
          <a:prstGeom prst="rect">
            <a:avLst/>
          </a:prstGeom>
          <a:solidFill>
            <a:srgbClr val="00C85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方案保存对比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0" y="1188720"/>
            <a:ext cx="201168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FFB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0" y="1188720"/>
            <a:ext cx="2011680" cy="457200"/>
          </a:xfrm>
          <a:prstGeom prst="rect">
            <a:avLst/>
          </a:prstGeom>
          <a:solidFill>
            <a:srgbClr val="FFBB33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12618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12618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Q4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优化迭代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040880" y="2148840"/>
            <a:ext cx="109728" cy="365760"/>
          </a:xfrm>
          <a:prstGeom prst="rect">
            <a:avLst/>
          </a:prstGeom>
          <a:solidFill>
            <a:srgbClr val="FFBB33"/>
          </a:solidFill>
          <a:ln/>
        </p:spPr>
      </p:sp>
      <p:sp>
        <p:nvSpPr>
          <p:cNvPr id="43" name="Text 41"/>
          <p:cNvSpPr/>
          <p:nvPr/>
        </p:nvSpPr>
        <p:spPr>
          <a:xfrm>
            <a:off x="722376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性能优化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40880" y="2651760"/>
            <a:ext cx="109728" cy="365760"/>
          </a:xfrm>
          <a:prstGeom prst="rect">
            <a:avLst/>
          </a:prstGeom>
          <a:solidFill>
            <a:srgbClr val="FFBB33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算法优化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40880" y="3154680"/>
            <a:ext cx="109728" cy="365760"/>
          </a:xfrm>
          <a:prstGeom prst="rect">
            <a:avLst/>
          </a:prstGeom>
          <a:solidFill>
            <a:srgbClr val="FFBB33"/>
          </a:solidFill>
          <a:ln/>
        </p:spPr>
      </p:sp>
      <p:sp>
        <p:nvSpPr>
          <p:cNvPr id="47" name="Text 45"/>
          <p:cNvSpPr/>
          <p:nvPr/>
        </p:nvSpPr>
        <p:spPr>
          <a:xfrm>
            <a:off x="722376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用户体验提升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77440" y="2743200"/>
            <a:ext cx="320040" cy="228600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0" y="2743200"/>
            <a:ext cx="320040" cy="228600"/>
          </a:xfrm>
          <a:prstGeom prst="rightArrow">
            <a:avLst/>
          </a:prstGeom>
          <a:solidFill>
            <a:srgbClr val="4A4A4A"/>
          </a:solidFill>
          <a:ln/>
        </p:spPr>
      </p:sp>
      <p:sp>
        <p:nvSpPr>
          <p:cNvPr id="50" name="Shape 48"/>
          <p:cNvSpPr/>
          <p:nvPr/>
        </p:nvSpPr>
        <p:spPr>
          <a:xfrm>
            <a:off x="6766560" y="2743200"/>
            <a:ext cx="320040" cy="228600"/>
          </a:xfrm>
          <a:prstGeom prst="rightArrow">
            <a:avLst/>
          </a:prstGeom>
          <a:solidFill>
            <a:srgbClr val="4A4A4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E623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DJI HR · 人才发展部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1005840"/>
            <a:ext cx="1280160" cy="411480"/>
          </a:xfrm>
          <a:prstGeom prst="rect">
            <a:avLst/>
          </a:prstGeom>
          <a:solidFill>
            <a:srgbClr val="E6230F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051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DJI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组织派兵布阵沙盘</dc:title>
  <dc:subject>Organizational Deployment Sandbox</dc:subject>
  <dc:creator>DJI HR</dc:creator>
  <cp:lastModifiedBy>DJI HR</cp:lastModifiedBy>
  <cp:revision>1</cp:revision>
  <dcterms:created xsi:type="dcterms:W3CDTF">2026-03-02T05:43:59Z</dcterms:created>
  <dcterms:modified xsi:type="dcterms:W3CDTF">2026-03-02T05:43:59Z</dcterms:modified>
</cp:coreProperties>
</file>